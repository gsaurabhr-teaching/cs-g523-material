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activeX/activeX2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337" r:id="rId2"/>
    <p:sldId id="339" r:id="rId3"/>
    <p:sldId id="338" r:id="rId4"/>
    <p:sldId id="341" r:id="rId5"/>
    <p:sldId id="342" r:id="rId6"/>
    <p:sldId id="343" r:id="rId7"/>
    <p:sldId id="340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81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88B3-3B06-4E95-AF9C-02FCB127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362075"/>
          </a:xfrm>
        </p:spPr>
        <p:txBody>
          <a:bodyPr/>
          <a:lstStyle/>
          <a:p>
            <a:r>
              <a:rPr lang="en-US" dirty="0"/>
              <a:t>Introduction to Embedded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E09265-F63B-4728-9FDF-3DA93EF6C9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3429000"/>
            <a:ext cx="7772400" cy="25908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Administratrivia</a:t>
            </a:r>
            <a:endParaRPr lang="en-US" dirty="0"/>
          </a:p>
          <a:p>
            <a:r>
              <a:rPr lang="en-US" dirty="0"/>
              <a:t>What is an embedded system?</a:t>
            </a:r>
          </a:p>
          <a:p>
            <a:r>
              <a:rPr lang="en-US" dirty="0"/>
              <a:t>How do they differ from general purpose computers?</a:t>
            </a:r>
          </a:p>
          <a:p>
            <a:r>
              <a:rPr lang="en-US" dirty="0"/>
              <a:t>Embedded vs general purpose software</a:t>
            </a:r>
          </a:p>
          <a:p>
            <a:r>
              <a:rPr lang="en-US" dirty="0"/>
              <a:t>Examples from automotive, medical, industrial systems</a:t>
            </a:r>
          </a:p>
          <a:p>
            <a:r>
              <a:rPr lang="en-US" dirty="0"/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89826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01BF510-3683-48EE-B74F-B532D1806EC9}"/>
              </a:ext>
            </a:extLst>
          </p:cNvPr>
          <p:cNvSpPr txBox="1">
            <a:spLocks/>
          </p:cNvSpPr>
          <p:nvPr/>
        </p:nvSpPr>
        <p:spPr bwMode="auto">
          <a:xfrm>
            <a:off x="5562600" y="1295400"/>
            <a:ext cx="3429000" cy="5259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F0"/>
                </a:solidFill>
              </a:rPr>
              <a:t>Course page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In-class quizzes!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Code: PS52M5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 err="1">
                <a:solidFill>
                  <a:srgbClr val="FFC000"/>
                </a:solidFill>
              </a:rPr>
              <a:t>Administratrivia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09688"/>
            <a:ext cx="5181600" cy="50149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Evaluation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Midsemester exam: 20%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Comprehensive exam: 30%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In-class quizzes and attendance: 10%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Projects: 20%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reports: 10%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presentations: 10%</a:t>
            </a:r>
          </a:p>
          <a:p>
            <a:pPr>
              <a:spcBef>
                <a:spcPts val="100"/>
              </a:spcBef>
              <a:buFontTx/>
              <a:buChar char="-"/>
            </a:pPr>
            <a:endParaRPr lang="en-US" sz="1050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Reference books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Miro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Samek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Practical UML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Statecharts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C/C++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Douglass et al. — Real-Time Design Patterns</a:t>
            </a:r>
          </a:p>
          <a:p>
            <a:pPr>
              <a:buFontTx/>
              <a:buChar char="-"/>
            </a:pP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Elecia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White — Making Embedded Systems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Jane W. S. Liu — Real-Time Systems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5A8A9-BF2C-45F1-A631-FF21014319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 b="5882"/>
          <a:stretch/>
        </p:blipFill>
        <p:spPr>
          <a:xfrm>
            <a:off x="5981700" y="1830390"/>
            <a:ext cx="2171700" cy="1916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A15331-11EC-4569-B543-A0F54B465A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4" b="7383"/>
          <a:stretch/>
        </p:blipFill>
        <p:spPr>
          <a:xfrm>
            <a:off x="5981699" y="4192590"/>
            <a:ext cx="2171701" cy="183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6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F744-9670-4455-B0E1-6A9E2523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embedded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EB48-76AF-4F7A-B010-FB9433926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114800" cy="5492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7625-FE31-4D2A-8F60-7838C131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FACD9-BD66-42B8-96CB-1BCF04BC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A83C3C-2C38-43C1-AFD9-D54A98EA7CF1}"/>
              </a:ext>
            </a:extLst>
          </p:cNvPr>
          <p:cNvSpPr txBox="1">
            <a:spLocks/>
          </p:cNvSpPr>
          <p:nvPr/>
        </p:nvSpPr>
        <p:spPr bwMode="auto">
          <a:xfrm>
            <a:off x="4724400" y="1446211"/>
            <a:ext cx="42672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Characteristics?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8" name="TextBox1" r:id="rId2" imgW="3002400" imgH="3337560"/>
        </mc:Choice>
        <mc:Fallback>
          <p:control name="TextBox1" r:id="rId2" imgW="3002400" imgH="3337560">
            <p:pic>
              <p:nvPicPr>
                <p:cNvPr id="9" name="TextBox1">
                  <a:extLst>
                    <a:ext uri="{FF2B5EF4-FFF2-40B4-BE49-F238E27FC236}">
                      <a16:creationId xmlns:a16="http://schemas.microsoft.com/office/drawing/2014/main" id="{EB2C2FD8-FC03-49B3-B03A-18B141578AB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9600" y="2819400"/>
                  <a:ext cx="3001962" cy="334080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29" name="TextBox2" r:id="rId3" imgW="3002400" imgH="3337560"/>
        </mc:Choice>
        <mc:Fallback>
          <p:control name="TextBox2" r:id="rId3" imgW="3002400" imgH="333756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A04E001B-06C1-48C4-8020-E97CA0E46F8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42688" y="2819400"/>
                  <a:ext cx="3001962" cy="334080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5986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A955-080F-456D-AE9A-20A5DF11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systems vs general purpose computers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6B3F2-6040-4265-8FEA-F4DAB584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A4BEC-01DF-4CCE-81EA-EEFD9C8E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DF19EA-56FF-46AD-A37C-1DAFB509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requirements?</a:t>
            </a:r>
          </a:p>
          <a:p>
            <a:endParaRPr lang="en-US" dirty="0"/>
          </a:p>
          <a:p>
            <a:r>
              <a:rPr lang="en-US" dirty="0"/>
              <a:t>Resource availability?</a:t>
            </a:r>
          </a:p>
          <a:p>
            <a:endParaRPr lang="en-US" dirty="0"/>
          </a:p>
          <a:p>
            <a:r>
              <a:rPr lang="en-US" dirty="0"/>
              <a:t>Use-case challenges?</a:t>
            </a:r>
          </a:p>
          <a:p>
            <a:endParaRPr lang="en-US" dirty="0"/>
          </a:p>
          <a:p>
            <a:r>
              <a:rPr lang="en-US" dirty="0"/>
              <a:t>Development cycle / tools?</a:t>
            </a:r>
          </a:p>
        </p:txBody>
      </p:sp>
    </p:spTree>
    <p:extLst>
      <p:ext uri="{BB962C8B-B14F-4D97-AF65-F5344CB8AC3E}">
        <p14:creationId xmlns:p14="http://schemas.microsoft.com/office/powerpoint/2010/main" val="344738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A380-885B-44FC-8818-3067A977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for embedded systems – challenges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E0CB27-6C72-4F0E-B883-FCDDAA7E9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705" y="1762613"/>
            <a:ext cx="7268589" cy="43821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7E0F-03FC-42F9-9935-A6E8C36E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F5CC1-D93E-47A6-B9F5-B1A5CA49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6CC6E-9581-49A3-835A-F916A20D59DF}"/>
              </a:ext>
            </a:extLst>
          </p:cNvPr>
          <p:cNvSpPr txBox="1"/>
          <p:nvPr/>
        </p:nvSpPr>
        <p:spPr>
          <a:xfrm>
            <a:off x="4253038" y="6144725"/>
            <a:ext cx="396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Making embedded systems (Fig. 1-1)</a:t>
            </a:r>
          </a:p>
        </p:txBody>
      </p:sp>
    </p:spTree>
    <p:extLst>
      <p:ext uri="{BB962C8B-B14F-4D97-AF65-F5344CB8AC3E}">
        <p14:creationId xmlns:p14="http://schemas.microsoft.com/office/powerpoint/2010/main" val="110675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6211"/>
            <a:ext cx="8686800" cy="5014912"/>
          </a:xfrm>
        </p:spPr>
        <p:txBody>
          <a:bodyPr/>
          <a:lstStyle/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Teams made by instructor (3-4 students with balanced backgrounds)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Projects will be floated in first lab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Work on projects alongside classwork… directly apply what you learn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/>
              <a:t>More details in first lab…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en-US" sz="2000" dirty="0"/>
              <a:t>fill out lab schedule poll (mark as many times as possible)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D321A5-3ABD-4634-A36D-AC57027BB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3092702"/>
            <a:ext cx="33623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1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10783</TotalTime>
  <Words>229</Words>
  <Application>Microsoft Office PowerPoint</Application>
  <PresentationFormat>On-screen Show (4:3)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Software for Embedded Systems</vt:lpstr>
      <vt:lpstr>Introduction to Embedded Systems</vt:lpstr>
      <vt:lpstr>Administratrivia</vt:lpstr>
      <vt:lpstr>What is an embedded system?</vt:lpstr>
      <vt:lpstr>Embedded systems vs general purpose computers</vt:lpstr>
      <vt:lpstr>Software development for embedded systems – challenges</vt:lpstr>
      <vt:lpstr>Projects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570</cp:revision>
  <dcterms:created xsi:type="dcterms:W3CDTF">2010-01-15T20:22:21Z</dcterms:created>
  <dcterms:modified xsi:type="dcterms:W3CDTF">2026-01-06T06:30:29Z</dcterms:modified>
</cp:coreProperties>
</file>